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4291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RIVERS é o sistema que recomenda moto reserva automaticamente na oficina.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o caminho da moto na oficina pra quem não conhece a operação. RIVERS age logo após o diagnóstico.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dor: decisão manual, tardia e sem critério explicável.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virada: antecipar e explicar, em vez de decidir tarde e no olho.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fundo é uma pergunta só. Dois motivos pro 'não': tempo ou peça.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Regras em camadas; a primeira que dispara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modelos: tempo (regressão sobre histórico) e capacidade (fila = trabalho / mecânicos).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Cruzamento com o Maestro + desfecho real. Régua = até ficar pronta.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≈9/10 recall, chega antes 7/10, só 6 furos (todos por não rodar 24/7).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Achado de processo: registro de motivo e devolução de reservas.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Cron (rodar 24/7), recalibração e governança do motivo.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Fecho. Resumo do estado e abertura pra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vammo</a:t>
            </a:r>
            <a:r>
              <a:rPr lang="en-US" sz="1600" b="1" kern="0" spc="-3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77272" y="3108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kern="0" spc="-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rivers</a:t>
            </a:r>
            <a:r>
              <a:rPr lang="en-US" sz="9600" b="1" kern="0" spc="-20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3886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2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Recomendação automática de moto reserva na oficina.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Oficina Vammo  ·  Mooca  ·  Osasco  ·  SBC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692640" y="4846320"/>
            <a:ext cx="1371600" cy="1371600"/>
          </a:xfrm>
          <a:prstGeom prst="ellipse">
            <a:avLst/>
          </a:prstGeom>
          <a:ln w="25400">
            <a:solidFill>
              <a:srgbClr val="2EC2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0" y="5074920"/>
            <a:ext cx="960120" cy="960120"/>
          </a:xfrm>
          <a:prstGeom prst="ellipse">
            <a:avLst/>
          </a:prstGeom>
          <a:ln w="25400">
            <a:solidFill>
              <a:srgbClr val="3A465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30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vammo</a:t>
            </a:r>
            <a:r>
              <a:rPr lang="en-US" sz="1600" b="1" kern="0" spc="-3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77272" y="3108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· A OFICINA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-50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 a manutenção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moto que precisa de reparo passa por estas etapas dentro da base: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1627632" cy="1554480"/>
          </a:xfrm>
          <a:prstGeom prst="rect">
            <a:avLst/>
          </a:prstGeom>
          <a:solidFill>
            <a:srgbClr val="F5F7F9"/>
          </a:solidFill>
          <a:ln w="12700">
            <a:solidFill>
              <a:srgbClr val="E4E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1181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35204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390448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deixa a moto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3749040"/>
            <a:ext cx="64008" cy="0"/>
          </a:xfrm>
          <a:prstGeom prst="line">
            <a:avLst/>
          </a:prstGeom>
          <a:noFill/>
          <a:ln w="19050">
            <a:solidFill>
              <a:srgbClr val="C4CBD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368296" y="2971800"/>
            <a:ext cx="1627632" cy="1554480"/>
          </a:xfrm>
          <a:prstGeom prst="rect">
            <a:avLst/>
          </a:prstGeom>
          <a:solidFill>
            <a:srgbClr val="F5F7F9"/>
          </a:solidFill>
          <a:ln w="12700">
            <a:solidFill>
              <a:srgbClr val="E4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31181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32888" y="35204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32888" y="390448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aguarda mecânico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14216" y="3749040"/>
            <a:ext cx="64008" cy="0"/>
          </a:xfrm>
          <a:prstGeom prst="line">
            <a:avLst/>
          </a:prstGeom>
          <a:noFill/>
          <a:ln w="19050">
            <a:solidFill>
              <a:srgbClr val="C4CBD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096512" y="2971800"/>
            <a:ext cx="1627632" cy="1554480"/>
          </a:xfrm>
          <a:prstGeom prst="rect">
            <a:avLst/>
          </a:prstGeom>
          <a:solidFill>
            <a:srgbClr val="2EC2FF"/>
          </a:solidFill>
          <a:ln w="12700">
            <a:solidFill>
              <a:srgbClr val="2EC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61104" y="31181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61104" y="35204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61104" y="390448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06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serviço e peças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42432" y="3749040"/>
            <a:ext cx="64008" cy="0"/>
          </a:xfrm>
          <a:prstGeom prst="line">
            <a:avLst/>
          </a:prstGeom>
          <a:noFill/>
          <a:ln w="19050">
            <a:solidFill>
              <a:srgbClr val="C4CBD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824728" y="2971800"/>
            <a:ext cx="1627632" cy="1554480"/>
          </a:xfrm>
          <a:prstGeom prst="rect">
            <a:avLst/>
          </a:prstGeom>
          <a:solidFill>
            <a:srgbClr val="F5F7F9"/>
          </a:solidFill>
          <a:ln w="12700">
            <a:solidFill>
              <a:srgbClr val="E4E7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31181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89320" y="35204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Conserto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989320" y="390448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 na rampa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70648" y="3749040"/>
            <a:ext cx="64008" cy="0"/>
          </a:xfrm>
          <a:prstGeom prst="line">
            <a:avLst/>
          </a:prstGeom>
          <a:noFill/>
          <a:ln w="19050">
            <a:solidFill>
              <a:srgbClr val="C4CBD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552944" y="2971800"/>
            <a:ext cx="1627632" cy="1554480"/>
          </a:xfrm>
          <a:prstGeom prst="rect">
            <a:avLst/>
          </a:prstGeom>
          <a:solidFill>
            <a:srgbClr val="F5F7F9"/>
          </a:solidFill>
          <a:ln w="12700">
            <a:solidFill>
              <a:srgbClr val="E4E7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17536" y="31181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17536" y="35204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717536" y="390448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conferência final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198864" y="3749040"/>
            <a:ext cx="64008" cy="0"/>
          </a:xfrm>
          <a:prstGeom prst="line">
            <a:avLst/>
          </a:prstGeom>
          <a:noFill/>
          <a:ln w="19050">
            <a:solidFill>
              <a:srgbClr val="C4CBD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281160" y="2971800"/>
            <a:ext cx="1627632" cy="1554480"/>
          </a:xfrm>
          <a:prstGeom prst="rect">
            <a:avLst/>
          </a:prstGeom>
          <a:solidFill>
            <a:srgbClr val="F5F7F9"/>
          </a:solidFill>
          <a:ln w="12700">
            <a:solidFill>
              <a:srgbClr val="E4E7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45752" y="31181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445752" y="35204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Pronta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445752" y="390448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busca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5029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total desde o check-in passar de 3 horas</a:t>
            </a:r>
            <a:r>
              <a:rPr lang="en-US" sz="15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 cliente deveria sair com uma </a:t>
            </a:r>
            <a:r>
              <a:rPr lang="en-US" sz="1500" b="1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 reserva</a:t>
            </a:r>
            <a:r>
              <a:rPr lang="en-US" sz="15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 é logo após o </a:t>
            </a:r>
            <a:r>
              <a:rPr lang="en-US" sz="1500" b="1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r>
              <a:rPr lang="en-US" sz="15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dá pra prever isso. É aí que o RIVERS entra.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30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vammo</a:t>
            </a:r>
            <a:r>
              <a:rPr lang="en-US" sz="1600" b="1" kern="0" spc="-3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77272" y="3108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kern="0" spc="-50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 reserva é decidida hoje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regra é dar moto reserva quando o conserto vai passar de 3 horas. Hoje quem faz essa conta é o líder de turno, no meio do plantão.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isso ela varia de pessoa pra pessoa, costuma sair tarde, e é difícil explicar depois por que uma moto ganhou reserva e outra não.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06640" y="1828800"/>
            <a:ext cx="4023360" cy="1051560"/>
          </a:xfrm>
          <a:prstGeom prst="rect">
            <a:avLst/>
          </a:prstGeom>
          <a:solidFill>
            <a:srgbClr val="F5F7F9"/>
          </a:solidFill>
          <a:ln w="12700">
            <a:solidFill>
              <a:srgbClr val="E4E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35240" y="2395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pessoa pra pessoa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06640" y="3108960"/>
            <a:ext cx="4023360" cy="1051560"/>
          </a:xfrm>
          <a:prstGeom prst="rect">
            <a:avLst/>
          </a:prstGeom>
          <a:solidFill>
            <a:srgbClr val="F5F7F9"/>
          </a:solidFill>
          <a:ln w="12700">
            <a:solidFill>
              <a:srgbClr val="E4E7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tarde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35240" y="3675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às vezes só após reclamação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06640" y="4389120"/>
            <a:ext cx="4023360" cy="1051560"/>
          </a:xfrm>
          <a:prstGeom prst="rect">
            <a:avLst/>
          </a:prstGeom>
          <a:solidFill>
            <a:srgbClr val="F5F7F9"/>
          </a:solidFill>
          <a:ln w="12700">
            <a:solidFill>
              <a:srgbClr val="E4E7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rastro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35240" y="4956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difícil explicar depois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30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vammo</a:t>
            </a:r>
            <a:r>
              <a:rPr lang="en-US" sz="1600" b="1" kern="0" spc="-3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77272" y="3108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-50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RIVERS faz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0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 acompanha todas as motos em manutenção e, logo depois do diagnóstico, calcula se cada uma vai passar das 3 horas.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vai, sugere a reserva — e mostra o motivo em texto</a:t>
            </a:r>
            <a:r>
              <a:rPr lang="en-US" sz="20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pra qualquer pessoa conferir e questionar.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vammo</a:t>
            </a:r>
            <a:r>
              <a:rPr lang="en-US" sz="1600" b="1" kern="0" spc="-3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77272" y="3108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LÓGICA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pergunta que ele responde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-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“Essa moto fica pronta em </a:t>
            </a:r>
            <a:r>
              <a:rPr lang="en-US" sz="5400" b="1" kern="0" spc="-10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horas</a:t>
            </a:r>
            <a:r>
              <a:rPr lang="en-US" sz="5400" b="1" kern="0" spc="-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?”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há dois motivos para a resposta ser não: o tempo estoura (serviço longo ou fila grande demais) ou falta a peça no estoque. Casos óbvios — guincho, acidente, moto que não anda — ganham reserva direto.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30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vammo</a:t>
            </a:r>
            <a:r>
              <a:rPr lang="en-US" sz="1600" b="1" kern="0" spc="-3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77272" y="3108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DECIDE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-50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perguntas, em ordem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2377440" cy="1737360"/>
          </a:xfrm>
          <a:prstGeom prst="rect">
            <a:avLst/>
          </a:prstGeom>
          <a:solidFill>
            <a:srgbClr val="F5F7F9"/>
          </a:solidFill>
          <a:ln w="12700">
            <a:solidFill>
              <a:srgbClr val="E4E7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246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crítico?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886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guincho, acidente,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imobilizada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90672" y="3794760"/>
            <a:ext cx="356616" cy="0"/>
          </a:xfrm>
          <a:prstGeom prst="line">
            <a:avLst/>
          </a:prstGeom>
          <a:noFill/>
          <a:ln w="25400">
            <a:solidFill>
              <a:srgbClr val="C4CBD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20440" y="2926080"/>
            <a:ext cx="2377440" cy="1737360"/>
          </a:xfrm>
          <a:prstGeom prst="rect">
            <a:avLst/>
          </a:prstGeom>
          <a:solidFill>
            <a:srgbClr val="F5F7F9"/>
          </a:solidFill>
          <a:ln w="12700">
            <a:solidFill>
              <a:srgbClr val="E4E7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3246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peça?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49040" y="3886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estoque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base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71032" y="3794760"/>
            <a:ext cx="356616" cy="0"/>
          </a:xfrm>
          <a:prstGeom prst="line">
            <a:avLst/>
          </a:prstGeom>
          <a:noFill/>
          <a:ln w="25400">
            <a:solidFill>
              <a:srgbClr val="C4CBD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0" y="2926080"/>
            <a:ext cx="2377440" cy="1737360"/>
          </a:xfrm>
          <a:prstGeom prst="rect">
            <a:avLst/>
          </a:prstGeom>
          <a:solidFill>
            <a:srgbClr val="F5F7F9"/>
          </a:solidFill>
          <a:ln w="12700">
            <a:solidFill>
              <a:srgbClr val="E4E7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3246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 de 3h?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29400" y="3886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 + fila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serviço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851392" y="3794760"/>
            <a:ext cx="356616" cy="0"/>
          </a:xfrm>
          <a:prstGeom prst="line">
            <a:avLst/>
          </a:prstGeom>
          <a:noFill/>
          <a:ln w="25400">
            <a:solidFill>
              <a:srgbClr val="C4CBD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281160" y="2926080"/>
            <a:ext cx="2011680" cy="1737360"/>
          </a:xfrm>
          <a:prstGeom prst="rect">
            <a:avLst/>
          </a:prstGeom>
          <a:solidFill>
            <a:srgbClr val="2EC2FF"/>
          </a:solidFill>
          <a:ln w="12700">
            <a:solidFill>
              <a:srgbClr val="2EC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429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" y="5029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primeira pergunta respondida com “sim” decide. Se nenhuma for, a moto fica sem reserva — dentro do prazo — e o sistema mostra a conta.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30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vammo</a:t>
            </a:r>
            <a:r>
              <a:rPr lang="en-US" sz="1600" b="1" kern="0" spc="-3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77272" y="3108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DENTRO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50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 modelos por trás da conta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5029200" cy="2834640"/>
          </a:xfrm>
          <a:prstGeom prst="rect">
            <a:avLst/>
          </a:prstGeom>
          <a:solidFill>
            <a:srgbClr val="F5F7F9"/>
          </a:solidFill>
          <a:ln w="12700">
            <a:solidFill>
              <a:srgbClr val="E4E7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017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DURA O SERVIÇO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Aprendido do histórico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411480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cadastro de tempos estava furado. Em vez de confiar nele, deixamos milhares de consertos reais mostrarem quanto tempo cada peça costuma levar.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26480" y="2743200"/>
            <a:ext cx="5029200" cy="2834640"/>
          </a:xfrm>
          <a:prstGeom prst="rect">
            <a:avLst/>
          </a:prstGeom>
          <a:solidFill>
            <a:srgbClr val="F5F7F9"/>
          </a:solidFill>
          <a:ln w="12700">
            <a:solidFill>
              <a:srgbClr val="E4E7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017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A FILA ATRASA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34290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capacidade da oficina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411480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serviço rápido estoura se tem muita moto na frente e poucos mecânicos. O RIVERS trata a oficina como fila: o trabalho acumulado dividido por quem está produzindo naquela hora.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30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vammo</a:t>
            </a:r>
            <a:r>
              <a:rPr lang="en-US" sz="1600" b="1" kern="0" spc="-3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77272" y="3108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-50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medimos se está certo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9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Comparamos, moto a moto, o que o RIVERS sugeriu com o que a oficina fez e com o que aconteceu de verdade — a moto passou mesmo de 3 horas?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4480560"/>
            <a:ext cx="10058400" cy="1234440"/>
          </a:xfrm>
          <a:prstGeom prst="rect">
            <a:avLst/>
          </a:prstGeom>
          <a:solidFill>
            <a:srgbClr val="F5F7F9"/>
          </a:solidFill>
          <a:ln w="12700">
            <a:solidFill>
              <a:srgbClr val="E4E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66344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régua é o tempo até a moto ficar pronta</a:t>
            </a:r>
            <a:r>
              <a:rPr lang="en-US" sz="16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não até o cliente buscar: quem está com uma reserva na mão não tem pressa de devolver, e isso distorcia a conta.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vammo</a:t>
            </a:r>
            <a:r>
              <a:rPr lang="en-US" sz="1600" b="1" kern="0" spc="-3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77272" y="3108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· PRIMEIRAS 2 SEMANAS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os números mostram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kern="0" spc="-10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≈9/10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640080" y="4251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reservas dadas pela oficina o RIVERS também tinha marcado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251960" y="28803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kern="0" spc="-10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7/10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4251960" y="4251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vezes, sugeriu a reserva antes da decisão manual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863840" y="28803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kern="0" spc="-10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7863840" y="4251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que ele deixou passar — todos por não estar rodando na hora, não por erro de cálculo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30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vammo</a:t>
            </a:r>
            <a:r>
              <a:rPr lang="en-US" sz="1600" b="1" kern="0" spc="-3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77272" y="3108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ACHADO EXTRA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-50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mais a análise mostrou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kern="0" spc="-10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em 5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6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entregas de reserva tem o motivo registrado no sistema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26480" y="28346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kern="0" spc="-10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6126480" y="39776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6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 pronta rápido fica parada esperando o cliente devolver a reserva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394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pontos de operação que valem atenção, além do algoritmo.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30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vammo</a:t>
            </a:r>
            <a:r>
              <a:rPr lang="en-US" sz="1600" b="1" kern="0" spc="-3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77272" y="3108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-50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vem agora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Rodar o tempo todo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ele só roda com a tela aberta. Um agendador faz ele trabalhar de madrugada, fim de semana e feriado.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51960" y="2834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51960" y="3520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Recalibrar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251960" y="4297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Afinar a estimativa de tempo em motos com muitas peças e a fila da base de Osasco.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863840" y="2834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863840" y="3520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0A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do motivo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863840" y="4297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Tornar obrigatório anotar o motivo na entrega da reserva.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vammo</a:t>
            </a:r>
            <a:r>
              <a:rPr lang="en-US" sz="1600" b="1" kern="0" spc="-3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77272" y="3108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-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chegamos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8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RIVERS já decide a reserva de forma automática e explicada nas três bases, com boa concordância com a oficina e chegando antes na maioria das vezes. O que falta é colocar ele pra rodar o tempo todo e afinar os pontos que a medição apontou.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3949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990</Words>
  <Application>Microsoft Office PowerPoint</Application>
  <PresentationFormat>Widescreen</PresentationFormat>
  <Paragraphs>146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RIVERS</dc:title>
  <dc:subject>PptxGenJS Presentation</dc:subject>
  <dc:creator>Vammo · Data &amp; Analytics</dc:creator>
  <cp:lastModifiedBy>Alvaro Henrique</cp:lastModifiedBy>
  <cp:revision>2</cp:revision>
  <dcterms:created xsi:type="dcterms:W3CDTF">2026-07-15T21:56:17Z</dcterms:created>
  <dcterms:modified xsi:type="dcterms:W3CDTF">2026-07-16T04:43:25Z</dcterms:modified>
</cp:coreProperties>
</file>